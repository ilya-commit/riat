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4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1047;&#1072;&#1075;&#1088;&#1091;&#1079;&#1082;&#1080;\Downloads\&#1056;&#1048;&#1040;&#1058;\&#1051;&#1080;&#1089;&#1090;%20Microsoft%20Excel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Причины</a:t>
            </a:r>
            <a:r>
              <a:rPr lang="ru-RU"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/>
              <a:t>низкой</a:t>
            </a:r>
            <a:r>
              <a:rPr lang="ru-RU"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/>
              <a:t>эффективности</a:t>
            </a:r>
            <a:r>
              <a:rPr lang="ru-RU"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/>
              <a:t>IT-</a:t>
            </a:r>
            <a:r>
              <a:rPr lang="ru-RU"/>
              <a:t>обучения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Частота</c:v>
                </c:pt>
              </c:strCache>
            </c:strRef>
          </c:tx>
          <c:invertIfNegative val="0"/>
          <c:cat>
            <c:strRef>
              <c:f>Sheet1!$A$2:$A$10</c:f>
              <c:strCache>
                <c:ptCount val="9"/>
                <c:pt idx="0">
                  <c:v>Дефицит менторов</c:v>
                </c:pt>
                <c:pt idx="1">
                  <c:v>Нет автотестов</c:v>
                </c:pt>
                <c:pt idx="2">
                  <c:v>Разрыв теории/практики</c:v>
                </c:pt>
                <c:pt idx="3">
                  <c:v>Нет структуры</c:v>
                </c:pt>
                <c:pt idx="4">
                  <c:v>Формальные ответы</c:v>
                </c:pt>
                <c:pt idx="5">
                  <c:v>Невидимый прогресс</c:v>
                </c:pt>
                <c:pt idx="6">
                  <c:v>Устаревание IT-технологий</c:v>
                </c:pt>
                <c:pt idx="7">
                  <c:v>Неудобный интерфейс</c:v>
                </c:pt>
                <c:pt idx="8">
                  <c:v>Нет контроля знаний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55</c:v>
                </c:pt>
                <c:pt idx="1">
                  <c:v>42</c:v>
                </c:pt>
                <c:pt idx="2">
                  <c:v>30</c:v>
                </c:pt>
                <c:pt idx="3">
                  <c:v>25</c:v>
                </c:pt>
                <c:pt idx="4">
                  <c:v>15</c:v>
                </c:pt>
                <c:pt idx="5">
                  <c:v>10</c:v>
                </c:pt>
                <c:pt idx="6">
                  <c:v>7</c:v>
                </c:pt>
                <c:pt idx="7">
                  <c:v>4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5D-4F61-AD52-64D58472CD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17725215"/>
        <c:axId val="20177247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Нак. %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pPr>
              <a:ln>
                <a:solidFill>
                  <a:srgbClr val="FF0000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Дефицит менторов</c:v>
                </c:pt>
                <c:pt idx="1">
                  <c:v>Нет автотестов</c:v>
                </c:pt>
                <c:pt idx="2">
                  <c:v>Разрыв теории/практики</c:v>
                </c:pt>
                <c:pt idx="3">
                  <c:v>Нет структуры</c:v>
                </c:pt>
                <c:pt idx="4">
                  <c:v>Формальные ответы</c:v>
                </c:pt>
                <c:pt idx="5">
                  <c:v>Невидимый прогресс</c:v>
                </c:pt>
                <c:pt idx="6">
                  <c:v>Устаревание IT-технологий</c:v>
                </c:pt>
                <c:pt idx="7">
                  <c:v>Неудобный интерфейс</c:v>
                </c:pt>
                <c:pt idx="8">
                  <c:v>Нет контроля знаний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0.28947368421052633</c:v>
                </c:pt>
                <c:pt idx="1">
                  <c:v>0.51052631578947372</c:v>
                </c:pt>
                <c:pt idx="2">
                  <c:v>0.66842105263157892</c:v>
                </c:pt>
                <c:pt idx="3">
                  <c:v>0.8</c:v>
                </c:pt>
                <c:pt idx="4">
                  <c:v>0.87894736842105259</c:v>
                </c:pt>
                <c:pt idx="5">
                  <c:v>0.93157894736842106</c:v>
                </c:pt>
                <c:pt idx="6">
                  <c:v>0.96842105263157896</c:v>
                </c:pt>
                <c:pt idx="7">
                  <c:v>0.98947368421052628</c:v>
                </c:pt>
                <c:pt idx="8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5D-4F61-AD52-64D58472CD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17724255"/>
        <c:axId val="2017725695"/>
      </c:lineChart>
      <c:catAx>
        <c:axId val="20177252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17724735"/>
        <c:crosses val="autoZero"/>
        <c:auto val="1"/>
        <c:lblAlgn val="ctr"/>
        <c:lblOffset val="100"/>
        <c:noMultiLvlLbl val="0"/>
      </c:catAx>
      <c:valAx>
        <c:axId val="2017724735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17725215"/>
        <c:crosses val="autoZero"/>
        <c:crossBetween val="between"/>
      </c:valAx>
      <c:valAx>
        <c:axId val="2017725695"/>
        <c:scaling>
          <c:orientation val="minMax"/>
          <c:max val="1"/>
        </c:scaling>
        <c:delete val="0"/>
        <c:axPos val="r"/>
        <c:numFmt formatCode="0%" sourceLinked="1"/>
        <c:majorTickMark val="out"/>
        <c:minorTickMark val="none"/>
        <c:tickLblPos val="nextTo"/>
        <c:crossAx val="2017724255"/>
        <c:crosses val="max"/>
        <c:crossBetween val="between"/>
      </c:valAx>
      <c:catAx>
        <c:axId val="20177242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17725695"/>
        <c:crosses val="autoZero"/>
        <c:auto val="1"/>
        <c:lblAlgn val="ctr"/>
        <c:lblOffset val="100"/>
        <c:noMultiLvlLbl val="0"/>
      </c:cat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0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C0876-98CF-82C5-51F1-DE90CAB71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743E11-9544-371B-6768-65D4107F7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4E72E-AA1E-787B-83AA-936467D7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C22679-6A9F-A2C6-E099-419C06BC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61315A-9EDA-0116-55D0-1E3B0783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2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32F55-9114-396D-9D19-135F5FB8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56A7F6-DFBA-EF3C-0311-D874F714C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35058A-A538-EDFD-B79D-A14BC5E3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074318-E8D0-DC4D-7235-B579308D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436663-62E1-E72E-86E7-D210CEC4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0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D2A84-170E-33E5-88F0-D17EE9F6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C0A249-BE26-D233-F9F6-B94DDF15F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0F12DE-E307-A4FD-93E5-0A7AE867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6B668E-D448-CC3A-7C1D-CD44192F9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3B8A7E-794D-FBE5-2498-599AF0E2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8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960AF-F0F9-C16E-AB1B-A4FD7232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60C132-4473-F180-7F36-F5F11FF1C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9A042D-FBE7-26C6-9E69-ED313173C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F01016-98B4-3F8C-534D-BECB285C9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B7EAF6-1C24-8042-97FB-8BD7F3D4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E60ED9-7FB6-86ED-9E9B-1D7D3524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2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1EE36-F52D-DAC5-99A7-57645EF4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62FD63-5860-8279-9F45-20781086F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AE9339-1BE1-F13E-C8D2-B79CD964E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EDCD1E-F2A9-99A8-C76A-87360E3C7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A931F4-CB07-442C-DB6D-5CD1E7D4B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F8FAEFD-B631-4AD6-C9BF-0E83B83D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A7B460D-FF0E-7099-30A7-79D8EB50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8303B32-C213-7CB7-B17A-5D2371FF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2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E95C-C7F3-B236-5818-4FBA5724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5B75910-98E8-CA0B-72A1-7333D247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61CAC8-8593-F088-1C37-90AF4B44D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529189-249E-F157-5BB0-D05A3AF8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6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E10E44-4707-DB05-BF27-BE6CC506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E45E0A-16AA-2FDA-4B81-1D0BAD5D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EB0A76-5BB2-12AE-1033-ABD8B5E4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0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DAAD8-AF4C-E0F2-E737-950814860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496766-4C8C-317A-9A4A-47F711FA4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9A1CA0-94BF-3E4D-AD42-87E1DFFAA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6243B2-6E88-4979-78C3-746E28C9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C85D0E-4620-E8C6-F8AC-67BEDC4A0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C8F141-59D4-4A25-6C30-119D76E5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8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3B225-E5FA-5D6E-DF78-45CC149C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0C2077-9A77-C6A1-D18B-174ADDBBB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F32364-1718-4345-112D-1A6FCF952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F93539-5969-946B-58AE-627433B3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BF1B8D-76A2-84C4-7709-7FB90FF2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9D8EC4-D2AD-4635-5774-BA3A9335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9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A12C2-D941-D415-45DA-79757CC91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3F1DBF-C019-E9BF-E45B-A50633FB7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A84712-C086-8C1C-4677-E2FE88DB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AF9E4C-DAF5-5466-1CDE-1F9BE5911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F1FB2B-C66A-2BDA-5640-E52665EF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62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33D2D22-4B79-52A7-F0BB-51079288E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54D578-0797-43E2-2E6A-C989BF623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3FB5F0-8E4B-C868-D7FE-02C968ED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AF3A05-21EB-AB80-530E-5657B0F3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B45488-E3D4-D183-75A1-92A286DF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chemeClr val="accent1">
                <a:lumMod val="5000"/>
                <a:lumOff val="95000"/>
              </a:schemeClr>
            </a:gs>
            <a:gs pos="46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9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6175E-8A7A-7CB7-FE1F-5BD298497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B76316-C1C9-9844-2B94-AE8779F25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4A19C7-E1D5-2F0F-A9C7-911352C5A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650F8-6AA6-4338-AC8D-12802F5F2F2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A897DD-68B3-E9AC-DFFD-CBB7853B3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B4D7CE-1B01-1A92-9EDE-0788FF8D0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6191E-7692-42A1-8577-A92A7C365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9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E7F3-A24D-DC03-2DE4-C2B44F8BE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Курсовая по разработке и анализу требований</a:t>
            </a:r>
            <a:endParaRPr lang="en-US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0B7AA6-BAE7-6BA0-348F-9C0E319F0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10500852" cy="2946246"/>
          </a:xfrm>
        </p:spPr>
        <p:txBody>
          <a:bodyPr/>
          <a:lstStyle/>
          <a:p>
            <a:pPr algn="r"/>
            <a:r>
              <a:rPr lang="ru-RU" dirty="0"/>
              <a:t>Выполнили: студенты группы 2-41</a:t>
            </a:r>
          </a:p>
          <a:p>
            <a:pPr algn="r"/>
            <a:r>
              <a:rPr lang="ru-RU" dirty="0" err="1"/>
              <a:t>Савельичев</a:t>
            </a:r>
            <a:r>
              <a:rPr lang="ru-RU" dirty="0"/>
              <a:t> А.Д., Марков И.А.</a:t>
            </a:r>
          </a:p>
          <a:p>
            <a:pPr algn="r"/>
            <a:r>
              <a:rPr lang="ru-RU" dirty="0"/>
              <a:t>Проверил: Гнатюк</a:t>
            </a:r>
          </a:p>
        </p:txBody>
      </p:sp>
    </p:spTree>
    <p:extLst>
      <p:ext uri="{BB962C8B-B14F-4D97-AF65-F5344CB8AC3E}">
        <p14:creationId xmlns:p14="http://schemas.microsoft.com/office/powerpoint/2010/main" val="343698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1F12C-7EBF-9BF1-21AB-DF0CE7CD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декомпозиции основной бизнес- логики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2CD7806-3FBD-DC35-B2B4-0EA2059CD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825625"/>
            <a:ext cx="10515600" cy="466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8306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chemeClr val="accent1">
                <a:lumMod val="5000"/>
                <a:lumOff val="95000"/>
              </a:schemeClr>
            </a:gs>
            <a:gs pos="31000">
              <a:schemeClr val="accent1">
                <a:lumMod val="45000"/>
                <a:lumOff val="55000"/>
              </a:schemeClr>
            </a:gs>
            <a:gs pos="77000">
              <a:schemeClr val="accent1">
                <a:lumMod val="45000"/>
                <a:lumOff val="55000"/>
              </a:schemeClr>
            </a:gs>
            <a:gs pos="85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BF1101-6752-EEA2-B362-476644CB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Исикавы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B76FC2F-8EBA-4346-6D0C-DF08EB878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133" y="1367964"/>
            <a:ext cx="8453733" cy="512491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BD0E751-212E-1ABE-D41F-7A1746410CCB}"/>
              </a:ext>
            </a:extLst>
          </p:cNvPr>
          <p:cNvSpPr/>
          <p:nvPr/>
        </p:nvSpPr>
        <p:spPr>
          <a:xfrm>
            <a:off x="9468465" y="5869858"/>
            <a:ext cx="1337187" cy="737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5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3749B-A998-3C6D-44D8-3E9E63779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</a:t>
            </a:r>
            <a:r>
              <a:rPr lang="ru-RU" dirty="0" err="1"/>
              <a:t>Паретто</a:t>
            </a:r>
            <a:endParaRPr lang="en-US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26439A8-7701-F253-04CC-5E778E45E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102938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80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2B187-FB2E-B546-D190-3817F70F2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BPMN</a:t>
            </a:r>
            <a:r>
              <a:rPr lang="ru-RU" dirty="0"/>
              <a:t> диаграмма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1511A8C-D6FA-8DEC-D5DD-3B575E1A3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25625"/>
            <a:ext cx="10515599" cy="478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30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EDE44-4059-FEBD-74F8-97406023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44344" cy="2299417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</a:t>
            </a:r>
            <a:br>
              <a:rPr lang="ru-RU" dirty="0"/>
            </a:br>
            <a:r>
              <a:rPr lang="ru-RU" dirty="0"/>
              <a:t>декомпозиции</a:t>
            </a:r>
            <a:br>
              <a:rPr lang="ru-RU" dirty="0"/>
            </a:br>
            <a:r>
              <a:rPr lang="en-US" dirty="0"/>
              <a:t>DFD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D83EE00-FE87-7ECD-49E4-7EDF8F156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2544" y="365125"/>
            <a:ext cx="7394824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02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43CBC-C97C-0333-CC34-D2ADAD62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Макет сайта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3DC4A24-3E74-1AED-7177-68D00B6C6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9"/>
            <a:ext cx="10515600" cy="458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249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CD7DA-8BE2-1B6C-FA89-718A949C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вариантов использования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286E8EF-F538-BE3D-8201-54C38624A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5278" y="1690688"/>
            <a:ext cx="821976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0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141D6-F093-27F5-C268-B3F595DB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3063875"/>
          </a:xfrm>
        </p:spPr>
        <p:txBody>
          <a:bodyPr/>
          <a:lstStyle/>
          <a:p>
            <a:pPr algn="ctr"/>
            <a:r>
              <a:rPr lang="ru-RU" dirty="0"/>
              <a:t>Диаграмма последовательности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175007B-A56E-1CBE-B446-F4DD5C797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94071"/>
            <a:ext cx="5920435" cy="58698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1592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8E17D-17A0-3D74-7F56-0F8DE0EBB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активности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DFC18DD-4481-7448-201B-F237009FA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419" y="1667396"/>
            <a:ext cx="6013161" cy="48254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8834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7E36A-AEEE-89F3-8CCB-613E89D18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развёртывания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F2C862E-A2C9-AB42-471E-54E678295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98" y="1690688"/>
            <a:ext cx="6210204" cy="4652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4485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56</Words>
  <Application>Microsoft Office PowerPoint</Application>
  <PresentationFormat>Широкоэкранный</PresentationFormat>
  <Paragraphs>15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Курсовая по разработке и анализу требований</vt:lpstr>
      <vt:lpstr>Диаграмма декомпозиции основной бизнес- логики</vt:lpstr>
      <vt:lpstr>Диаграмма Исикавы</vt:lpstr>
      <vt:lpstr>Диаграмма Паретто</vt:lpstr>
      <vt:lpstr>BPMN диаграмма</vt:lpstr>
      <vt:lpstr>Диаграмма декомпозиции DFD</vt:lpstr>
      <vt:lpstr>Макет сайта</vt:lpstr>
      <vt:lpstr>Диаграмма вариантов использования</vt:lpstr>
      <vt:lpstr>Диаграмма последовательности</vt:lpstr>
      <vt:lpstr>Диаграмма активности</vt:lpstr>
      <vt:lpstr>Диаграмма развёртывания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2</cp:revision>
  <dcterms:created xsi:type="dcterms:W3CDTF">2026-05-24T13:17:43Z</dcterms:created>
  <dcterms:modified xsi:type="dcterms:W3CDTF">2026-05-24T13:34:39Z</dcterms:modified>
</cp:coreProperties>
</file>